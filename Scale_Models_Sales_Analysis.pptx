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8B1A1A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Trains</c:v>
                  </c:pt>
                  <c:pt idx="1">
                    <c:v>Ships</c:v>
                  </c:pt>
                  <c:pt idx="2">
                    <c:v>Planes</c:v>
                  </c:pt>
                  <c:pt idx="3">
                    <c:v>Trucks &amp; Buses</c:v>
                  </c:pt>
                  <c:pt idx="4">
                    <c:v>Motorcycles</c:v>
                  </c:pt>
                  <c:pt idx="5">
                    <c:v>Vintage Cars</c:v>
                  </c:pt>
                  <c:pt idx="6">
                    <c:v>Classic Cars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</c:v>
                </c:pt>
                <c:pt idx="1">
                  <c:v>0.66</c:v>
                </c:pt>
                <c:pt idx="2">
                  <c:v>0.95</c:v>
                </c:pt>
                <c:pt idx="3">
                  <c:v>1.02</c:v>
                </c:pt>
                <c:pt idx="4">
                  <c:v>1.12</c:v>
                </c:pt>
                <c:pt idx="5">
                  <c:v>1.8</c:v>
                </c:pt>
                <c:pt idx="6">
                  <c:v>3.85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0DDD8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5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B71C1C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Trains</c:v>
                  </c:pt>
                  <c:pt idx="1">
                    <c:v>Planes</c:v>
                  </c:pt>
                  <c:pt idx="2">
                    <c:v>Trucks &amp; Buses</c:v>
                  </c:pt>
                  <c:pt idx="3">
                    <c:v>Ships</c:v>
                  </c:pt>
                  <c:pt idx="4">
                    <c:v>Classic Cars</c:v>
                  </c:pt>
                  <c:pt idx="5">
                    <c:v>Vintage Cars</c:v>
                  </c:pt>
                  <c:pt idx="6">
                    <c:v>Motorcycles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34.7</c:v>
                </c:pt>
                <c:pt idx="1">
                  <c:v>38.3</c:v>
                </c:pt>
                <c:pt idx="2">
                  <c:v>39.1</c:v>
                </c:pt>
                <c:pt idx="3">
                  <c:v>39.4</c:v>
                </c:pt>
                <c:pt idx="4">
                  <c:v>39.6</c:v>
                </c:pt>
                <c:pt idx="5">
                  <c:v>41</c:v>
                </c:pt>
                <c:pt idx="6">
                  <c:v>41.8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30"/>
        </c:scaling>
        <c:delete val="0"/>
        <c:axPos val="b"/>
        <c:majorGridlines>
          <c:spPr>
            <a:ln w="9525" cap="flat">
              <a:solidFill>
                <a:srgbClr val="E0DD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5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Revenue ($M)</c:v>
                </c:pt>
              </c:strCache>
            </c:strRef>
          </c:tx>
          <c:spPr>
            <a:solidFill>
              <a:srgbClr val="8B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2003 Q1</c:v>
                  </c:pt>
                  <c:pt idx="1">
                    <c:v>2003 Q2</c:v>
                  </c:pt>
                  <c:pt idx="2">
                    <c:v>2003 Q3</c:v>
                  </c:pt>
                  <c:pt idx="3">
                    <c:v>2003 Q4</c:v>
                  </c:pt>
                  <c:pt idx="4">
                    <c:v>2004 Q1</c:v>
                  </c:pt>
                  <c:pt idx="5">
                    <c:v>2004 Q2</c:v>
                  </c:pt>
                  <c:pt idx="6">
                    <c:v>2004 Q3</c:v>
                  </c:pt>
                  <c:pt idx="7">
                    <c:v>2004 Q4</c:v>
                  </c:pt>
                  <c:pt idx="8">
                    <c:v>2005 Q1</c:v>
                  </c:pt>
                  <c:pt idx="9">
                    <c:v>2005 Q2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0.41</c:v>
                </c:pt>
                <c:pt idx="1">
                  <c:v>0.52</c:v>
                </c:pt>
                <c:pt idx="2">
                  <c:v>0.62</c:v>
                </c:pt>
                <c:pt idx="3">
                  <c:v>1.78</c:v>
                </c:pt>
                <c:pt idx="4">
                  <c:v>0.72</c:v>
                </c:pt>
                <c:pt idx="5">
                  <c:v>0.78</c:v>
                </c:pt>
                <c:pt idx="6">
                  <c:v>1.03</c:v>
                </c:pt>
                <c:pt idx="7">
                  <c:v>1.91</c:v>
                </c:pt>
                <c:pt idx="8">
                  <c:v>0.98</c:v>
                </c:pt>
                <c:pt idx="9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Annual Revenue ($M)</c:v>
                </c:pt>
              </c:strCache>
            </c:strRef>
          </c:tx>
          <c:spPr>
            <a:solidFill>
              <a:srgbClr val="2E7D32"/>
            </a:solidFill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2003 Q1</c:v>
                  </c:pt>
                  <c:pt idx="1">
                    <c:v>2003 Q2</c:v>
                  </c:pt>
                  <c:pt idx="2">
                    <c:v>2003 Q3</c:v>
                  </c:pt>
                  <c:pt idx="3">
                    <c:v>2003 Q4</c:v>
                  </c:pt>
                  <c:pt idx="4">
                    <c:v>2004 Q1</c:v>
                  </c:pt>
                  <c:pt idx="5">
                    <c:v>2004 Q2</c:v>
                  </c:pt>
                  <c:pt idx="6">
                    <c:v>2004 Q3</c:v>
                  </c:pt>
                  <c:pt idx="7">
                    <c:v>2004 Q4</c:v>
                  </c:pt>
                  <c:pt idx="8">
                    <c:v>2005 Q1</c:v>
                  </c:pt>
                  <c:pt idx="9">
                    <c:v>2005 Q2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3.32</c:v>
                </c:pt>
                <c:pt idx="1">
                  <c:v>3.32</c:v>
                </c:pt>
                <c:pt idx="2">
                  <c:v>3.32</c:v>
                </c:pt>
                <c:pt idx="3">
                  <c:v>3.32</c:v>
                </c:pt>
                <c:pt idx="4">
                  <c:v>4.52</c:v>
                </c:pt>
                <c:pt idx="5">
                  <c:v>4.52</c:v>
                </c:pt>
                <c:pt idx="6">
                  <c:v>4.52</c:v>
                </c:pt>
                <c:pt idx="7">
                  <c:v>4.52</c:v>
                </c:pt>
                <c:pt idx="8">
                  <c:v>1.77</c:v>
                </c:pt>
                <c:pt idx="9">
                  <c:v>1.77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0DDD8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5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8B1A1A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1A1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9B3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Singapore</c:v>
                  </c:pt>
                  <c:pt idx="1">
                    <c:v>Norway</c:v>
                  </c:pt>
                  <c:pt idx="2">
                    <c:v>Finland</c:v>
                  </c:pt>
                  <c:pt idx="3">
                    <c:v>Italy</c:v>
                  </c:pt>
                  <c:pt idx="4">
                    <c:v>UK</c:v>
                  </c:pt>
                  <c:pt idx="5">
                    <c:v>New Zealand</c:v>
                  </c:pt>
                  <c:pt idx="6">
                    <c:v>Australia</c:v>
                  </c:pt>
                  <c:pt idx="7">
                    <c:v>France</c:v>
                  </c:pt>
                  <c:pt idx="8">
                    <c:v>Spain</c:v>
                  </c:pt>
                  <c:pt idx="9">
                    <c:v>USA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0.264</c:v>
                </c:pt>
                <c:pt idx="1">
                  <c:v>0.271</c:v>
                </c:pt>
                <c:pt idx="2">
                  <c:v>0.295</c:v>
                </c:pt>
                <c:pt idx="3">
                  <c:v>0.361</c:v>
                </c:pt>
                <c:pt idx="4">
                  <c:v>0.437</c:v>
                </c:pt>
                <c:pt idx="5">
                  <c:v>0.477</c:v>
                </c:pt>
                <c:pt idx="6">
                  <c:v>0.563</c:v>
                </c:pt>
                <c:pt idx="7">
                  <c:v>1.01</c:v>
                </c:pt>
                <c:pt idx="8">
                  <c:v>1.1</c:v>
                </c:pt>
                <c:pt idx="9">
                  <c:v>3.27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0DDD8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5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Gerard Hernandez</c:v>
                  </c:pt>
                  <c:pt idx="1">
                    <c:v>Leslie Jennings</c:v>
                  </c:pt>
                  <c:pt idx="2">
                    <c:v>Pamela Castillo</c:v>
                  </c:pt>
                  <c:pt idx="3">
                    <c:v>Larry Bott</c:v>
                  </c:pt>
                  <c:pt idx="4">
                    <c:v>Barry Jones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1.26</c:v>
                </c:pt>
                <c:pt idx="1">
                  <c:v>1.08</c:v>
                </c:pt>
                <c:pt idx="2">
                  <c:v>0.868</c:v>
                </c:pt>
                <c:pt idx="3">
                  <c:v>0.732</c:v>
                </c:pt>
                <c:pt idx="4">
                  <c:v>0.705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Team Average ($929K)</c:v>
                </c:pt>
              </c:strCache>
            </c:strRef>
          </c:tx>
          <c:spPr>
            <a:solidFill>
              <a:srgbClr val="5D5D6B"/>
            </a:solidFill>
            <a:ln w="25400" cap="flat">
              <a:solidFill>
                <a:srgbClr val="5D5D6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D5D6B"/>
              </a:solidFill>
              <a:ln w="9525" cap="flat">
                <a:solidFill>
                  <a:srgbClr val="5D5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Gerard Hernandez</c:v>
                  </c:pt>
                  <c:pt idx="1">
                    <c:v>Leslie Jennings</c:v>
                  </c:pt>
                  <c:pt idx="2">
                    <c:v>Pamela Castillo</c:v>
                  </c:pt>
                  <c:pt idx="3">
                    <c:v>Larry Bott</c:v>
                  </c:pt>
                  <c:pt idx="4">
                    <c:v>Barry Jones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0.929</c:v>
                </c:pt>
                <c:pt idx="1">
                  <c:v>0.929</c:v>
                </c:pt>
                <c:pt idx="2">
                  <c:v>0.929</c:v>
                </c:pt>
                <c:pt idx="3">
                  <c:v>0.929</c:v>
                </c:pt>
                <c:pt idx="4">
                  <c:v>0.929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0DDD8"/>
              </a:solidFill>
              <a:prstDash val="solid"/>
              <a:round/>
            </a:ln>
          </c:spPr>
        </c:majorGridlines>
        <c:numFmt formatCode="&quot;$&quot;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5D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Models Co.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Intelligence &amp; Strategic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multi-table analysis of revenue, margin, geography, customer concentration, and sales performance across 2003 to 2005.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HITEN SOLANKI  ·  DATA ANALYTICS PORTFOLIO PROJECT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8" name="Text 6"/>
          <p:cNvSpPr/>
          <p:nvPr/>
        </p:nvSpPr>
        <p:spPr>
          <a:xfrm>
            <a:off x="909828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98280" y="11155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$9.60M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09828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FY2003 – FY2005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98280" y="2240280"/>
            <a:ext cx="28346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26700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$3.83M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98280" y="3364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margin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98280" y="3794760"/>
            <a:ext cx="28346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42245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9828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active customers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5349240"/>
            <a:ext cx="28346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5486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57790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09828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products, 19 countries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6903720"/>
            <a:ext cx="28346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and headline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18745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$9.60M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+36% growth 2003→2004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39312" y="18745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$3.83M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39312" y="24231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overall margin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73952" y="18745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$1.07M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3952" y="24231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 of revenue lost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OUTSTANDING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08592" y="1874520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08592" y="24231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$9.60M billed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907792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266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2735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4672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$29,461 per order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907792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30266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39312" y="32735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639312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$67,659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907792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0266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73952" y="32735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73952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product lines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0" y="2907792"/>
            <a:ext cx="2670048" cy="1234440"/>
          </a:xfrm>
          <a:prstGeom prst="rect">
            <a:avLst/>
          </a:prstGeom>
          <a:solidFill>
            <a:srgbClr val="F8F8F8"/>
          </a:solidFill>
          <a:ln w="9525">
            <a:solidFill>
              <a:srgbClr val="E0D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08592" y="30266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08592" y="32735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$8.85M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08592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collection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6908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4572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and Vintage Cars together generate 58.8% of total revenue — heavy reliance on two product lines.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46908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4572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 carry the highest profit margin (41.8%) yet contribute only 11.7% of revenue — an underused opportunity.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3766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delivers 40–54% of annual revenue every year — a strongly seasonal business.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17920" y="53766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4" name="Text 42"/>
          <p:cNvSpPr/>
          <p:nvPr/>
        </p:nvSpPr>
        <p:spPr>
          <a:xfrm>
            <a:off x="6473952" y="5257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 customers account for 14.7% of total revenue — a material concentration risk.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0080" y="60624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" y="5943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of billed revenue remains uncollected — a 92.2% collection rate signals an accounts receivable gap.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6062472"/>
            <a:ext cx="109728" cy="10972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8" name="Text 46"/>
          <p:cNvSpPr/>
          <p:nvPr/>
        </p:nvSpPr>
        <p:spPr>
          <a:xfrm>
            <a:off x="6473952" y="5943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 Hernandez leads the sales team, generating revenue well above the team average benchmark.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$9.60M in total revenue comes from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9494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03320" cy="5074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92440" y="1993392"/>
            <a:ext cx="315468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496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$3.85M</a:t>
            </a:r>
            <a:pPr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40.1%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092440" y="3017520"/>
            <a:ext cx="3108960" cy="109728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1" name="Shape 8"/>
          <p:cNvSpPr/>
          <p:nvPr/>
        </p:nvSpPr>
        <p:spPr>
          <a:xfrm>
            <a:off x="8092440" y="3017520"/>
            <a:ext cx="3108960" cy="10972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CARS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3639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$1.80M</a:t>
            </a:r>
            <a:pPr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18.7%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092440" y="4160520"/>
            <a:ext cx="3108960" cy="109728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5" name="Shape 12"/>
          <p:cNvSpPr/>
          <p:nvPr/>
        </p:nvSpPr>
        <p:spPr>
          <a:xfrm>
            <a:off x="8092440" y="4160520"/>
            <a:ext cx="1461211" cy="10972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6" name="Text 13"/>
          <p:cNvSpPr/>
          <p:nvPr/>
        </p:nvSpPr>
        <p:spPr>
          <a:xfrm>
            <a:off x="8092440" y="4526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92440" y="4782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$1.12M</a:t>
            </a:r>
            <a:pPr indent="0" marL="0">
              <a:buNone/>
            </a:pPr>
            <a:r>
              <a:rPr lang="en-US" sz="18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11.7%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092440" y="5303520"/>
            <a:ext cx="3108960" cy="109728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9" name="Shape 16"/>
          <p:cNvSpPr/>
          <p:nvPr/>
        </p:nvSpPr>
        <p:spPr>
          <a:xfrm>
            <a:off x="8092440" y="5303520"/>
            <a:ext cx="901598" cy="109728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20" name="Shape 17"/>
          <p:cNvSpPr/>
          <p:nvPr/>
        </p:nvSpPr>
        <p:spPr>
          <a:xfrm>
            <a:off x="8092440" y="5715000"/>
            <a:ext cx="315468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5897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 lines generate 70.5% of total revenue.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MARGIN BY PRODUCT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percentage tells a different story than revenue volume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9494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03320" cy="237744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Motorcycles — 41.8%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9244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Highest-margin line in the portfolio, but contributes only 11.7% of revenue. Growing this line even modestly would add disproportionate profit.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3977640"/>
            <a:ext cx="3703320" cy="237744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MARGIN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Trains — 34.7%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09244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is the weakest line on both revenue (2.0% share) and margin. A strong candidate for portfolio rationalisation or a pricing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YEAR &amp; QUARTER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strongly seasonal business — Q4 drives the year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8869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9692640" y="1417320"/>
            <a:ext cx="1828800" cy="457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98755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875520" y="1965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generates between 40% and 54% of each year's total revenue — every single year.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875520" y="3657600"/>
            <a:ext cx="14630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0" y="384048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was the peak year, up 36% from 2003. 2005 covers only Q1–Q2 (Jan–May).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bars mark Q4 of each year. The green line tracks total annual revenue.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COUNTRY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across the top markets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9494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03320" cy="5074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92440" y="1993392"/>
            <a:ext cx="315468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0924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comes from the USA alone — the single largest market by a wide margin.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92440" y="3886200"/>
            <a:ext cx="315468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809244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just three countries — USA, Spain and France combined.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92440" y="5760720"/>
            <a:ext cx="315468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2440" y="5897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mid-tier markets (Australia, New Zealand, UK) could reduce reliance on the top 3.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CONCENTRATION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of the top 5 customers, sized by contribution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50292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EURO+ SHOPPING CHANNEL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$820,690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 of 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5394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customer. If lost, the company forfeits more revenue than its entire Trains product line generates in a year.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2377440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GIFTS DISTRIBUTORS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$591,827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of total revenue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977640"/>
            <a:ext cx="1188720" cy="2514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416052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COLLECTORS CO.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07408" y="512064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$180,585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566928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41264" y="3977640"/>
            <a:ext cx="1188720" cy="2514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416052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MACHINE INC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50992" y="512064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$177,914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50992" y="566928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84848" y="3977640"/>
            <a:ext cx="1188720" cy="25146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416052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ROCHELLE GIFTS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94576" y="512064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$158,573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4576" y="566928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1463040"/>
            <a:ext cx="3337560" cy="5029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58200" y="2039112"/>
            <a:ext cx="278892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2240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8458200" y="288036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company revenue depends on just two customers — Euro+ Shopping Channel and Mini Gifts Distributors.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458200" y="4297680"/>
            <a:ext cx="278892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44805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58200" y="48006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the customer base by acquiring new accounts in mid-sized markets, reducing dependency on any single relationship.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sales representatives vs. the team average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9494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03320" cy="237744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Gerard Hernandez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92440" y="2423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team with $1.26M in revenue — well ahead of the $929K team average benchmark.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18120" y="3977640"/>
            <a:ext cx="3703320" cy="23774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SPREAD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above, 3 below average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92440" y="4983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Hernandez and Jennings sit above the team average; Castillo, Bott and Jones fall below it — a coaching and mentorship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priorities derived directly from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Motorcycles 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(41.8%) but only 11.7% of revenue. Targeted marketing and dealer incentives could lift volume without compressing margin.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outstanding payments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sits uncollected against $9.60M billed. A structured AR follow-up process could recover this within 1–2 quarters.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5820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the customer 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7889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customers represent 14.7% of revenue. Acquiring new mid-tier accounts would reduce single-customer dependency.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discount policy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$1.07M (11.2% of revenue) was given away in discounts. A tiered, rules-based discount structure could protect margin.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40690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6344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around 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3035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drives 40–54% of annual revenue every year. Inventory, staffing and marketing should be planned ahead of this surge.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4069080"/>
            <a:ext cx="3611880" cy="2331720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4251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45820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top-performer methods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58200" y="53035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Hernandez outperforms the team average significantly. Documenting and sharing his approach could lift overall team output.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Conclusion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covered total revenue, product line performance, profit margins, seasonality, geographic concentration, customer risk, and sales team performance for Scale Models Co. across FY2003–2005.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points to a business with a strong core (Classic Cars, the US market, a high-performing sales lead) but with concentrated risk — in product mix, geography, customers, and receivables — that the six recommendations on the previous page directly address.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·  Hiten Solanki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0" y="548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896112"/>
            <a:ext cx="3291840" cy="0"/>
          </a:xfrm>
          <a:prstGeom prst="line">
            <a:avLst/>
          </a:prstGeom>
          <a:noFill/>
          <a:ln w="12700">
            <a:solidFill>
              <a:srgbClr val="3D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1097280"/>
            <a:ext cx="3593592" cy="530352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1" name="Text 9"/>
          <p:cNvSpPr/>
          <p:nvPr/>
        </p:nvSpPr>
        <p:spPr>
          <a:xfrm>
            <a:off x="8549640" y="1097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69880" y="1097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$9.60M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645920"/>
            <a:ext cx="3593592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6459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69880" y="16459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$3.83M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2194560"/>
            <a:ext cx="3593592" cy="530352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194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69880" y="21945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2743200"/>
            <a:ext cx="3593592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27432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469880" y="27432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3291840"/>
            <a:ext cx="3593592" cy="530352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291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69880" y="32918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0" y="3840480"/>
            <a:ext cx="3593592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38404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69880" y="38404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4389120"/>
            <a:ext cx="3593592" cy="530352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29" name="Text 27"/>
          <p:cNvSpPr/>
          <p:nvPr/>
        </p:nvSpPr>
        <p:spPr>
          <a:xfrm>
            <a:off x="8549640" y="43891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69880" y="43891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(40.1%)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4937760"/>
            <a:ext cx="3593592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49377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69880" y="493776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(34.0%)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5486400"/>
            <a:ext cx="3593592" cy="530352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5486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469880" y="54864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Euro+ Shopping (8.5%)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12480" y="6035040"/>
            <a:ext cx="3593592" cy="53035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8549640" y="6035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 Rep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469880" y="60350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Hernandez ($1.26M)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Models Co. — Sales Performance Analysis</dc:title>
  <dc:subject>PptxGenJS Presentation</dc:subject>
  <dc:creator>Hiten Solanki</dc:creator>
  <cp:lastModifiedBy>Hiten Solanki</cp:lastModifiedBy>
  <cp:revision>1</cp:revision>
  <dcterms:created xsi:type="dcterms:W3CDTF">2026-06-13T05:30:15Z</dcterms:created>
  <dcterms:modified xsi:type="dcterms:W3CDTF">2026-06-13T05:30:15Z</dcterms:modified>
</cp:coreProperties>
</file>